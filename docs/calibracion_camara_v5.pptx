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54DF"/>
    <a:srgbClr val="00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47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943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74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de Cámara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578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Medida de Objetos 3D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286000" y="3246120"/>
            <a:ext cx="4572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457200" y="3364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por Computador  ·  ¿Cómo mide una cámara el mundo real?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Rehder et al. (IV 2017)  ·  Zhang (1999)  ·  OpenCV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calibrar una cámara?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228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2743200" cy="2103120"/>
          </a:xfrm>
          <a:prstGeom prst="rect">
            <a:avLst/>
          </a:prstGeom>
          <a:solidFill>
            <a:srgbClr val="152135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74320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mide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objeto?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sin calibrar.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Pixeles ≠ metros.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749808"/>
            <a:ext cx="2743200" cy="2103120"/>
          </a:xfrm>
          <a:prstGeom prst="rect">
            <a:avLst/>
          </a:prstGeom>
          <a:solidFill>
            <a:srgbClr val="1521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246120" y="749808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337560" y="960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 la línea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lente la distorsiona.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corregirla.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749808"/>
            <a:ext cx="2743200" cy="2103120"/>
          </a:xfrm>
          <a:prstGeom prst="rect">
            <a:avLst/>
          </a:prstGeom>
          <a:solidFill>
            <a:srgbClr val="15213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217920" y="749808"/>
            <a:ext cx="27432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309360" y="960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robot?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Localización 3D requiere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calibrada.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8595360" cy="1691640"/>
          </a:xfrm>
          <a:prstGeom prst="rect">
            <a:avLst/>
          </a:prstGeom>
          <a:solidFill>
            <a:srgbClr val="1C2E48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7200" y="31272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cámara proyecta el mundo 3D en una imagen 2D.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proceso introduce errores geométricos y de distorsión.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38587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= encontrar los parámetros que describen exactamente cómo ocurre esa conversión.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la Calibración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228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8595360" cy="1920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2697480"/>
            <a:ext cx="2743200" cy="1691640"/>
          </a:xfrm>
          <a:prstGeom prst="rect">
            <a:avLst/>
          </a:prstGeom>
          <a:solidFill>
            <a:srgbClr val="152135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274320" y="2697480"/>
            <a:ext cx="2743200" cy="73152"/>
          </a:xfrm>
          <a:prstGeom prst="rect">
            <a:avLst/>
          </a:prstGeom>
          <a:solidFill>
            <a:srgbClr val="64748B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365760" y="2852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los 90s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246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manual y costoso.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fotogrametría industrial.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82112" y="2697480"/>
            <a:ext cx="2743200" cy="1691640"/>
          </a:xfrm>
          <a:prstGeom prst="rect">
            <a:avLst/>
          </a:prstGeom>
          <a:solidFill>
            <a:srgbClr val="152135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3182112" y="2697480"/>
            <a:ext cx="2743200" cy="73152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3273552" y="2852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1999 — El cambio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73552" y="3246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ajedrez + múltiples vistas.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simple, preciso, masivo. Base de OpenCV.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89904" y="2697480"/>
            <a:ext cx="2743200" cy="1691640"/>
          </a:xfrm>
          <a:prstGeom prst="rect">
            <a:avLst/>
          </a:prstGeom>
          <a:solidFill>
            <a:srgbClr val="1521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6089904" y="2697480"/>
            <a:ext cx="2743200" cy="7315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6181344" y="2852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— Online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81344" y="3246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patrón, en tiempo real.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para vehículos autónomos.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Cámara Estenopeica — El Origen del Modelo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228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8794" b="14771"/>
          <a:stretch>
            <a:fillRect/>
          </a:stretch>
        </p:blipFill>
        <p:spPr>
          <a:xfrm>
            <a:off x="154876" y="796071"/>
            <a:ext cx="4417124" cy="176424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17672" y="685800"/>
            <a:ext cx="2552007" cy="2423160"/>
          </a:xfrm>
          <a:prstGeom prst="rect">
            <a:avLst/>
          </a:prstGeom>
          <a:solidFill>
            <a:srgbClr val="15213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6317673" y="7772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17673" y="11704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Caja oscura + un orificio diminuto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17673" y="151790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Luz entra en línea recta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17673" y="186537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Imagen se forma en la pared opuesta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17673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Invertida verticalmente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17673" y="2560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Sin lente → sin distorsión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1138" y="29077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cámara oscura Y el modelo pinhole son lo mismo — uno físico, otro matemático: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" y="3345875"/>
            <a:ext cx="2788920" cy="1536192"/>
          </a:xfrm>
          <a:prstGeom prst="rect">
            <a:avLst/>
          </a:prstGeom>
          <a:solidFill>
            <a:srgbClr val="1521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274320" y="3345875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384048" y="3437315"/>
            <a:ext cx="1188720" cy="25603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384048" y="3437315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4048" y="3693347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Orificio (huequito)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84048" y="4004243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en el modelo: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84048" y="4241987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O — centro optico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4516307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rayos pasan por aqui.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origen del sistema de camara.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182112" y="3345875"/>
            <a:ext cx="2788920" cy="1536192"/>
          </a:xfrm>
          <a:prstGeom prst="rect">
            <a:avLst/>
          </a:prstGeom>
          <a:solidFill>
            <a:srgbClr val="152135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>
            <a:off x="3182112" y="3345875"/>
            <a:ext cx="278892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2"/>
          <p:cNvSpPr/>
          <p:nvPr/>
        </p:nvSpPr>
        <p:spPr>
          <a:xfrm>
            <a:off x="3291840" y="3437315"/>
            <a:ext cx="1188720" cy="256032"/>
          </a:xfrm>
          <a:prstGeom prst="rect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3291840" y="3437315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291840" y="3693347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 del fondo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291840" y="4004243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en el modelo: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291840" y="4241987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plano imagen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291840" y="4516307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se forma la imagen.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digital: el chip fotosensible.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089904" y="3345875"/>
            <a:ext cx="2788920" cy="1536192"/>
          </a:xfrm>
          <a:prstGeom prst="rect">
            <a:avLst/>
          </a:prstGeom>
          <a:solidFill>
            <a:srgbClr val="15213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29"/>
          <p:cNvSpPr/>
          <p:nvPr/>
        </p:nvSpPr>
        <p:spPr>
          <a:xfrm>
            <a:off x="6089904" y="3345875"/>
            <a:ext cx="2788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0"/>
          <p:cNvSpPr/>
          <p:nvPr/>
        </p:nvSpPr>
        <p:spPr>
          <a:xfrm>
            <a:off x="6199632" y="3437315"/>
            <a:ext cx="1188720" cy="256032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1"/>
          <p:cNvSpPr/>
          <p:nvPr/>
        </p:nvSpPr>
        <p:spPr>
          <a:xfrm>
            <a:off x="6199632" y="3437315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199632" y="3693347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 de luz recto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199632" y="4004243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en el modelo: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99632" y="4241987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 de proyeccion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199632" y="4516307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que une P con O con (u,v).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TODO el modelo matematico.</a:t>
            </a:r>
            <a:endParaRPr lang="en-US" sz="1000" dirty="0"/>
          </a:p>
        </p:txBody>
      </p:sp>
      <p:pic>
        <p:nvPicPr>
          <p:cNvPr id="39" name="Imagen 38" descr="Aprender a hacer una Cámara Estenopeica ¿Qué es?">
            <a:extLst>
              <a:ext uri="{FF2B5EF4-FFF2-40B4-BE49-F238E27FC236}">
                <a16:creationId xmlns:a16="http://schemas.microsoft.com/office/drawing/2014/main" id="{AD0887D4-336D-18EF-40F7-FDCC4E9594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49" t="24046" r="10553" b="8715"/>
          <a:stretch>
            <a:fillRect/>
          </a:stretch>
        </p:blipFill>
        <p:spPr>
          <a:xfrm>
            <a:off x="3310890" y="1141730"/>
            <a:ext cx="2784950" cy="1418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Pinhole — Base de todo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228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15323"/>
          <a:stretch>
            <a:fillRect/>
          </a:stretch>
        </p:blipFill>
        <p:spPr>
          <a:xfrm>
            <a:off x="434110" y="692519"/>
            <a:ext cx="8275779" cy="27268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593592"/>
            <a:ext cx="2788920" cy="1188720"/>
          </a:xfrm>
          <a:prstGeom prst="rect">
            <a:avLst/>
          </a:prstGeom>
          <a:solidFill>
            <a:srgbClr val="152135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274320" y="3593592"/>
            <a:ext cx="278892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384048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Perspectiva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84048" y="41148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lejanos se ven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pequeños en la imagen.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82112" y="3593592"/>
            <a:ext cx="2788920" cy="1188720"/>
          </a:xfrm>
          <a:prstGeom prst="rect">
            <a:avLst/>
          </a:prstGeom>
          <a:solidFill>
            <a:srgbClr val="152135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3182112" y="3593592"/>
            <a:ext cx="278892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329184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Imagen invertida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291840" y="41148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en el sensor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al revés (arriba/abajo).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89904" y="3593592"/>
            <a:ext cx="2788920" cy="1188720"/>
          </a:xfrm>
          <a:prstGeom prst="rect">
            <a:avLst/>
          </a:prstGeom>
          <a:solidFill>
            <a:srgbClr val="1521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6089904" y="3593592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6199632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Focal length f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199632" y="41148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O → plano imagen.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f = más zoom.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Parámetros del Modelo — ¿Qué necesitamos conocer?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48055"/>
          </a:xfrm>
          <a:prstGeom prst="rect">
            <a:avLst/>
          </a:prstGeom>
          <a:solidFill>
            <a:srgbClr val="152135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1F5F9"/>
                </a:solidFill>
                <a:ea typeface="Consolas" pitchFamily="34" charset="-122"/>
                <a:cs typeface="Consolas" pitchFamily="34" charset="-120"/>
              </a:rPr>
              <a:t>El modelo dice:   s · [u,v,1]ᵀ  =  K  ·  [R|t]  ·  [X,Y,Z,1]ᵀ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4267" y="1417320"/>
            <a:ext cx="2834640" cy="2572789"/>
          </a:xfrm>
          <a:prstGeom prst="rect">
            <a:avLst/>
          </a:prstGeom>
          <a:solidFill>
            <a:srgbClr val="1521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84267" y="1417320"/>
            <a:ext cx="2834640" cy="45720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75707" y="14813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Tenemos  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1427" y="2094809"/>
            <a:ext cx="201168" cy="201168"/>
          </a:xfrm>
          <a:prstGeom prst="ellipse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23179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capturada (u, v)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427" y="2808041"/>
            <a:ext cx="201168" cy="201168"/>
          </a:xfrm>
          <a:prstGeom prst="ellipse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23179" y="2679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calibración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1427" y="3521273"/>
            <a:ext cx="201168" cy="201168"/>
          </a:xfrm>
          <a:prstGeom prst="ellipse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23179" y="3392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del tablero en cm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56067" y="1417320"/>
            <a:ext cx="2834640" cy="2572789"/>
          </a:xfrm>
          <a:prstGeom prst="rect">
            <a:avLst/>
          </a:prstGeom>
          <a:solidFill>
            <a:srgbClr val="152135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156067" y="1417320"/>
            <a:ext cx="2834640" cy="457200"/>
          </a:xfrm>
          <a:prstGeom prst="rect">
            <a:avLst/>
          </a:prstGeom>
          <a:solidFill>
            <a:srgbClr val="00C8FF">
              <a:alpha val="40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247507" y="14813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Queremos  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93227" y="2094809"/>
            <a:ext cx="201168" cy="201168"/>
          </a:xfrm>
          <a:prstGeom prst="ellipse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594979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objetos reales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3227" y="2808041"/>
            <a:ext cx="201168" cy="201168"/>
          </a:xfrm>
          <a:prstGeom prst="ellipse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594979" y="2679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distorsión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3227" y="3521273"/>
            <a:ext cx="201168" cy="201168"/>
          </a:xfrm>
          <a:prstGeom prst="ellipse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594979" y="3392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cosas en 3D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7867" y="1417320"/>
            <a:ext cx="2834640" cy="2572789"/>
          </a:xfrm>
          <a:prstGeom prst="rect">
            <a:avLst/>
          </a:prstGeom>
          <a:solidFill>
            <a:srgbClr val="1521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6127867" y="1417320"/>
            <a:ext cx="2834640" cy="457200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219307" y="14813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Debemos encontrar  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65027" y="2094809"/>
            <a:ext cx="201168" cy="201168"/>
          </a:xfrm>
          <a:prstGeom prst="ellipse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566779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 intrínsecos (fx,fy,cx,cy)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5027" y="2808041"/>
            <a:ext cx="201168" cy="201168"/>
          </a:xfrm>
          <a:prstGeom prst="ellipse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566779" y="2679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distCoeffs: distorsión (k1,k2,p1,p2)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5027" y="3521273"/>
            <a:ext cx="201168" cy="201168"/>
          </a:xfrm>
          <a:prstGeom prst="ellipse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6566779" y="3392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T: pose de la cámara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227022"/>
            <a:ext cx="8595360" cy="658368"/>
          </a:xfrm>
          <a:prstGeom prst="rect">
            <a:avLst/>
          </a:prstGeom>
          <a:solidFill>
            <a:srgbClr val="1C2E4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1308979" y="4310149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Intrínsecos (K)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743199" y="4300174"/>
            <a:ext cx="37229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propios de la cámara, no cambian al moverla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08395" y="45765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Extrínsecos (R, T)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743200" y="459278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 cada vez que mueves la cámara o el objeto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3660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Intrínsecos — La Matriz 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23236"/>
            <a:ext cx="841248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572000" y="999189"/>
            <a:ext cx="4297680" cy="1097280"/>
          </a:xfrm>
          <a:prstGeom prst="rect">
            <a:avLst/>
          </a:prstGeom>
          <a:solidFill>
            <a:srgbClr val="1521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4572000" y="999189"/>
            <a:ext cx="1097280" cy="109728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4617720" y="1227789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fx, fy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806440" y="1072341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focal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806440" y="1438101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 entre la longitud focal fisica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tamanio del pixel del sensor.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2233629"/>
            <a:ext cx="4297680" cy="1097280"/>
          </a:xfrm>
          <a:prstGeom prst="rect">
            <a:avLst/>
          </a:prstGeom>
          <a:solidFill>
            <a:srgbClr val="1521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4572000" y="2233629"/>
            <a:ext cx="1097280" cy="109728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4617720" y="2462229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cx, cy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06440" y="2306781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principal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806440" y="2672541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apunta el eje optico en la imagen.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Idealmente el centro, en practica no.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82880" y="3509519"/>
            <a:ext cx="8778240" cy="1197864"/>
          </a:xfrm>
          <a:prstGeom prst="rect">
            <a:avLst/>
          </a:prstGeom>
          <a:solidFill>
            <a:srgbClr val="1C2E4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365760" y="3557473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fx = 800?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65760" y="389509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objeto de 1 metro a 1 metro de distancia aparece como 800 píxeles de alto/ancho en la imagen.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65760" y="429590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 = f_fisico / tamanio_pixel  →  Si f=8mm y pixel=0.004mm → fx = 8/0.004 = 2000 px</a:t>
            </a:r>
            <a:endParaRPr lang="en-US" sz="1300" dirty="0"/>
          </a:p>
        </p:txBody>
      </p:sp>
      <p:pic>
        <p:nvPicPr>
          <p:cNvPr id="24" name="Imagen 23" descr="Imágenes de Fondo blanco - Descarga gratuita en Freepik">
            <a:extLst>
              <a:ext uri="{FF2B5EF4-FFF2-40B4-BE49-F238E27FC236}">
                <a16:creationId xmlns:a16="http://schemas.microsoft.com/office/drawing/2014/main" id="{0BED0260-1803-5DB3-C5AB-8C2D44B7F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21168"/>
            <a:ext cx="4251960" cy="2315713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50DBCD0F-47CD-5CBB-5CA3-650FF3506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5" y="870660"/>
            <a:ext cx="4805837" cy="24089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Distorsión de Lente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228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843889"/>
            <a:ext cx="7244080" cy="24864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396742"/>
            <a:ext cx="8595360" cy="658368"/>
          </a:xfrm>
          <a:prstGeom prst="rect">
            <a:avLst/>
          </a:prstGeom>
          <a:solidFill>
            <a:srgbClr val="1521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411480" y="343331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Distorsión Radial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286000" y="344246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xd = xu · (1 + k1·r² + k2·r⁴ + k3·r⁶)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376250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k1&gt;0 barril  ·  k1&lt;0 cojin  ·  r = distancia al centro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4128262"/>
            <a:ext cx="8595360" cy="658368"/>
          </a:xfrm>
          <a:prstGeom prst="rect">
            <a:avLst/>
          </a:prstGeom>
          <a:solidFill>
            <a:srgbClr val="15213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411480" y="416483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Distorsión Tangencial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286000" y="417398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xd = xu + [2p1·x·y + p2·(r²+2x²)]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" y="449402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 no paralela al sensor  ·  Menos frecuente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Extrínsecos — Pose en el Espacio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228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5321" t="6572"/>
          <a:stretch>
            <a:fillRect/>
          </a:stretch>
        </p:blipFill>
        <p:spPr>
          <a:xfrm>
            <a:off x="71269" y="807720"/>
            <a:ext cx="5538321" cy="27325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658368"/>
            <a:ext cx="3246120" cy="1417320"/>
          </a:xfrm>
          <a:prstGeom prst="rect">
            <a:avLst/>
          </a:prstGeom>
          <a:solidFill>
            <a:srgbClr val="15213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5669280" y="658368"/>
            <a:ext cx="3246120" cy="320040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5760720" y="670255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Rotación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760720" y="100203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3×3 ortogonal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60720" y="12136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Hacia donde apunta la camara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60720" y="143306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Angulos de Euler: alfa, beta, gamma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60720" y="165252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OpenCV: vector Rodrigues (3 valores)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60720" y="187198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 = Rx(a) · Ry(b) · Rz(g)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69280" y="2167128"/>
            <a:ext cx="3246120" cy="1417320"/>
          </a:xfrm>
          <a:prstGeom prst="rect">
            <a:avLst/>
          </a:prstGeom>
          <a:solidFill>
            <a:srgbClr val="152135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5669280" y="2167128"/>
            <a:ext cx="3246120" cy="283464"/>
          </a:xfrm>
          <a:prstGeom prst="rect">
            <a:avLst/>
          </a:prstGeom>
          <a:solidFill>
            <a:srgbClr val="F43F5E">
              <a:alpha val="3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5760720" y="21717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Traslacion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760720" y="249174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3×1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60720" y="269062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Donde esta la camara en el mundo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60720" y="291007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[tx, ty, tz] desde el origen Ow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60720" y="312953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Pc = R · Pw + 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760720" y="334899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 par (R,T) por imagen del tablero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82880" y="3767328"/>
            <a:ext cx="8778240" cy="1154887"/>
          </a:xfrm>
          <a:prstGeom prst="rect">
            <a:avLst/>
          </a:prstGeom>
          <a:solidFill>
            <a:srgbClr val="1C2E4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365760" y="385394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del mundo vs coordenadas de la cámara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P existe en el mundo con sus coordenadas (Xw,Yw,Zw). La cámara lo ve desde otro lugar y con otra orientación.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65760" y="442747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rota el sistema de coordenadas  ·  T lo desplaza  ·  Juntos transforman cualquier punto del mundo a la cámara.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Sirven los Patrones de Calibración?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228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8595360" cy="658368"/>
          </a:xfrm>
          <a:prstGeom prst="rect">
            <a:avLst/>
          </a:prstGeom>
          <a:solidFill>
            <a:srgbClr val="1C2E48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758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72491" y="758952"/>
            <a:ext cx="71143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encontrar K necesitamos saber exactamente dónde está un punto 3D Y dónde aparece en la imagen.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2743200" cy="2752344"/>
          </a:xfrm>
          <a:prstGeom prst="rect">
            <a:avLst/>
          </a:prstGeom>
          <a:solidFill>
            <a:srgbClr val="1521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1280160" y="1572768"/>
            <a:ext cx="640080" cy="6400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28016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Necesitamos correspondencias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757331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3D del mundo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&lt;-&gt; pixeles en imagen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esquina del tablero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este pixel (u,v) en foto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82112" y="1463040"/>
            <a:ext cx="2743200" cy="2752344"/>
          </a:xfrm>
          <a:prstGeom prst="rect">
            <a:avLst/>
          </a:prstGeom>
          <a:solidFill>
            <a:srgbClr val="1521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187952" y="1572768"/>
            <a:ext cx="640080" cy="64008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187952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73552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patron nos da eso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73552" y="2757331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esquinas o circulos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faciles de detectar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 y con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sub-pixel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9904" y="1463040"/>
            <a:ext cx="2743200" cy="2752344"/>
          </a:xfrm>
          <a:prstGeom prst="rect">
            <a:avLst/>
          </a:prstGeom>
          <a:solidFill>
            <a:srgbClr val="152135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095744" y="1572768"/>
            <a:ext cx="640080" cy="640080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095744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81344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Z=0: el truco elegante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81344" y="2757331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es plano.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Z=0 para todos.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simplifica enormemente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calculos de calibracion.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325388"/>
            <a:ext cx="8595360" cy="566928"/>
          </a:xfrm>
          <a:prstGeom prst="rect">
            <a:avLst/>
          </a:prstGeom>
          <a:solidFill>
            <a:srgbClr val="152135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57200" y="44168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Cuantas más correspondencias (más imágenes, más ángulos) → mejor estimación de K y distCoeffs.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Calibración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228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2834640" cy="23774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532" y="707413"/>
            <a:ext cx="2982788" cy="233296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89320" y="685800"/>
            <a:ext cx="2880360" cy="2377440"/>
          </a:xfrm>
          <a:prstGeom prst="rect">
            <a:avLst/>
          </a:prstGeom>
          <a:solidFill>
            <a:srgbClr val="152135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/>
          <p:nvPr/>
        </p:nvSpPr>
        <p:spPr>
          <a:xfrm>
            <a:off x="6035040" y="7498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6035040" y="1115568"/>
            <a:ext cx="2788920" cy="365760"/>
          </a:xfrm>
          <a:prstGeom prst="rect">
            <a:avLst/>
          </a:prstGeom>
          <a:solidFill>
            <a:srgbClr val="10192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6035040" y="115214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839712" y="1133856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Esquinas internas</a:t>
            </a:r>
            <a:endParaRPr lang="en-US" sz="900" dirty="0">
              <a:solidFill>
                <a:srgbClr val="00C8FF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6839712" y="1298448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5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de círculos</a:t>
            </a:r>
            <a:endParaRPr lang="en-US" sz="900" dirty="0">
              <a:solidFill>
                <a:srgbClr val="7D54DF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35040" y="1499616"/>
            <a:ext cx="2788920" cy="365760"/>
          </a:xfrm>
          <a:prstGeom prst="rect">
            <a:avLst/>
          </a:prstGeom>
          <a:solidFill>
            <a:srgbClr val="15213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6035040" y="15361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839712" y="1517904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Sub-píxel con cornerSubPix</a:t>
            </a:r>
            <a:endParaRPr lang="en-US" sz="900" dirty="0">
              <a:solidFill>
                <a:srgbClr val="00C8FF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6839712" y="1682496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5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robusta al ruido</a:t>
            </a:r>
            <a:endParaRPr lang="en-US" sz="900" dirty="0">
              <a:solidFill>
                <a:srgbClr val="7D54DF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035040" y="1883664"/>
            <a:ext cx="2788920" cy="365760"/>
          </a:xfrm>
          <a:prstGeom prst="rect">
            <a:avLst/>
          </a:prstGeom>
          <a:solidFill>
            <a:srgbClr val="10192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5"/>
          <p:cNvSpPr/>
          <p:nvPr/>
        </p:nvSpPr>
        <p:spPr>
          <a:xfrm>
            <a:off x="6035040" y="192024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839712" y="1901952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</a:t>
            </a:r>
            <a:endParaRPr lang="en-US" sz="900" dirty="0">
              <a:solidFill>
                <a:srgbClr val="00C8FF"/>
              </a:solidFill>
            </a:endParaRPr>
          </a:p>
        </p:txBody>
      </p:sp>
      <p:sp>
        <p:nvSpPr>
          <p:cNvPr id="21" name="Text 17"/>
          <p:cNvSpPr/>
          <p:nvPr/>
        </p:nvSpPr>
        <p:spPr>
          <a:xfrm>
            <a:off x="6839712" y="2066544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5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tolerante</a:t>
            </a:r>
            <a:endParaRPr lang="en-US" sz="900" dirty="0">
              <a:solidFill>
                <a:srgbClr val="7D54DF"/>
              </a:solidFill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035040" y="2267712"/>
            <a:ext cx="2788920" cy="365760"/>
          </a:xfrm>
          <a:prstGeom prst="rect">
            <a:avLst/>
          </a:prstGeom>
          <a:solidFill>
            <a:srgbClr val="15213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19"/>
          <p:cNvSpPr/>
          <p:nvPr/>
        </p:nvSpPr>
        <p:spPr>
          <a:xfrm>
            <a:off x="6035040" y="230428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OpenCV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839712" y="228600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findChessboardCorners()</a:t>
            </a:r>
            <a:endParaRPr lang="en-US" sz="900" dirty="0">
              <a:solidFill>
                <a:srgbClr val="00C8FF"/>
              </a:solidFill>
            </a:endParaRPr>
          </a:p>
        </p:txBody>
      </p:sp>
      <p:sp>
        <p:nvSpPr>
          <p:cNvPr id="25" name="Text 21"/>
          <p:cNvSpPr/>
          <p:nvPr/>
        </p:nvSpPr>
        <p:spPr>
          <a:xfrm>
            <a:off x="6839712" y="24505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5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findCirclesGrid()</a:t>
            </a:r>
            <a:endParaRPr lang="en-US" sz="900" dirty="0">
              <a:solidFill>
                <a:srgbClr val="7D54DF"/>
              </a:solidFill>
            </a:endParaRPr>
          </a:p>
        </p:txBody>
      </p:sp>
      <p:sp>
        <p:nvSpPr>
          <p:cNvPr id="26" name="Shape 22"/>
          <p:cNvSpPr/>
          <p:nvPr/>
        </p:nvSpPr>
        <p:spPr>
          <a:xfrm>
            <a:off x="6035040" y="2651760"/>
            <a:ext cx="2788920" cy="365760"/>
          </a:xfrm>
          <a:prstGeom prst="rect">
            <a:avLst/>
          </a:prstGeom>
          <a:solidFill>
            <a:srgbClr val="10192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3"/>
          <p:cNvSpPr/>
          <p:nvPr/>
        </p:nvSpPr>
        <p:spPr>
          <a:xfrm>
            <a:off x="6035040" y="26883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común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839712" y="267004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900" dirty="0">
              <a:solidFill>
                <a:srgbClr val="00C8FF"/>
              </a:solidFill>
            </a:endParaRPr>
          </a:p>
        </p:txBody>
      </p:sp>
      <p:sp>
        <p:nvSpPr>
          <p:cNvPr id="29" name="Text 25"/>
          <p:cNvSpPr/>
          <p:nvPr/>
        </p:nvSpPr>
        <p:spPr>
          <a:xfrm>
            <a:off x="6839712" y="283464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5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precisión</a:t>
            </a:r>
            <a:endParaRPr lang="en-US" sz="900" dirty="0">
              <a:solidFill>
                <a:srgbClr val="7D54DF"/>
              </a:solidFill>
            </a:endParaRPr>
          </a:p>
        </p:txBody>
      </p:sp>
      <p:sp>
        <p:nvSpPr>
          <p:cNvPr id="30" name="Shape 26"/>
          <p:cNvSpPr/>
          <p:nvPr/>
        </p:nvSpPr>
        <p:spPr>
          <a:xfrm>
            <a:off x="274320" y="3310128"/>
            <a:ext cx="8595360" cy="1463040"/>
          </a:xfrm>
          <a:prstGeom prst="rect">
            <a:avLst/>
          </a:prstGeom>
          <a:solidFill>
            <a:srgbClr val="1C2E48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7"/>
          <p:cNvSpPr/>
          <p:nvPr/>
        </p:nvSpPr>
        <p:spPr>
          <a:xfrm>
            <a:off x="457200" y="3401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capturar bien?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365760" y="37947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40080" y="37947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15 imágenes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40080" y="39776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Variar ángulos y posiciones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365760" y="423367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640080" y="42336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Cubrir toda la imagen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640080" y="44165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Esquinas, centro, lejos, cerca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4663440" y="37947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4937760" y="37947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blur ni sobreexposición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4937760" y="39776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del patrón bien definidos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663440" y="423367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4937760" y="42336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plano y rígido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4937760" y="44165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superficie dura, no papel flexible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la Calibración?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228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1600200" cy="1991979"/>
          </a:xfrm>
          <a:prstGeom prst="rect">
            <a:avLst/>
          </a:prstGeom>
          <a:solidFill>
            <a:srgbClr val="152135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16002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22960" y="868680"/>
            <a:ext cx="502920" cy="502920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822960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1303439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imágenes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1481054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≥15 fotos del tablero 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variadas posiciones y ángulos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011680" y="731520"/>
            <a:ext cx="1600200" cy="1991979"/>
          </a:xfrm>
          <a:prstGeom prst="rect">
            <a:avLst/>
          </a:prstGeom>
          <a:solidFill>
            <a:srgbClr val="1521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2011680" y="731520"/>
            <a:ext cx="1600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560320" y="868680"/>
            <a:ext cx="502920" cy="50292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560320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57400" y="1303439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puntos 2D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57400" y="1481054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findChessboardCorners()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coordenadas en píxeles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749040" y="731520"/>
            <a:ext cx="1600200" cy="1991979"/>
          </a:xfrm>
          <a:prstGeom prst="rect">
            <a:avLst/>
          </a:prstGeom>
          <a:solidFill>
            <a:srgbClr val="1521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749040" y="731520"/>
            <a:ext cx="1600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297680" y="868680"/>
            <a:ext cx="502920" cy="50292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297680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94760" y="1303439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puntos 3D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94760" y="1481054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(j, i, 0) en unidades de cuadro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Z=0 porque el tablero es plano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486400" y="731520"/>
            <a:ext cx="1600200" cy="2001703"/>
          </a:xfrm>
          <a:prstGeom prst="rect">
            <a:avLst/>
          </a:prstGeom>
          <a:solidFill>
            <a:srgbClr val="15213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5486400" y="731520"/>
            <a:ext cx="16002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6035040" y="868680"/>
            <a:ext cx="502920" cy="50292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035040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32120" y="1303439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1481054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error de reproyección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Levenberg-Marquardt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223760" y="731520"/>
            <a:ext cx="1600200" cy="2001703"/>
          </a:xfrm>
          <a:prstGeom prst="rect">
            <a:avLst/>
          </a:prstGeom>
          <a:solidFill>
            <a:srgbClr val="152135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7223760" y="731520"/>
            <a:ext cx="16002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7772400" y="868680"/>
            <a:ext cx="502920" cy="502920"/>
          </a:xfrm>
          <a:prstGeom prst="ellipse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7772400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269480" y="1303439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69480" y="1481054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+ distCoeffs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imagen: R[], T[]</a:t>
            </a:r>
            <a:endParaRPr lang="en-US" sz="11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06" y="2766477"/>
            <a:ext cx="4223614" cy="2195507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4480560" y="3194579"/>
            <a:ext cx="4389120" cy="1402607"/>
          </a:xfrm>
          <a:prstGeom prst="rect">
            <a:avLst/>
          </a:prstGeom>
          <a:solidFill>
            <a:srgbClr val="1C2E4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39"/>
          <p:cNvSpPr/>
          <p:nvPr/>
        </p:nvSpPr>
        <p:spPr>
          <a:xfrm>
            <a:off x="4617720" y="32585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Reproyección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4617720" y="36060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entre el punto detectado y el punto proyectado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parámetros actuales.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617720" y="4127268"/>
            <a:ext cx="1325880" cy="32004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2"/>
          <p:cNvSpPr/>
          <p:nvPr/>
        </p:nvSpPr>
        <p:spPr>
          <a:xfrm>
            <a:off x="4617720" y="414555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 px → Excelente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035040" y="4127268"/>
            <a:ext cx="1325880" cy="32004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4"/>
          <p:cNvSpPr/>
          <p:nvPr/>
        </p:nvSpPr>
        <p:spPr>
          <a:xfrm>
            <a:off x="6035040" y="414555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px → Bueno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452360" y="4127268"/>
            <a:ext cx="1325880" cy="320040"/>
          </a:xfrm>
          <a:prstGeom prst="rect">
            <a:avLst/>
          </a:prstGeom>
          <a:solidFill>
            <a:srgbClr val="F43F5E">
              <a:alpha val="25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6"/>
          <p:cNvSpPr/>
          <p:nvPr/>
        </p:nvSpPr>
        <p:spPr>
          <a:xfrm>
            <a:off x="7452360" y="414555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 px → Repetir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en 3D — Las Variables del Problema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228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739292"/>
            <a:ext cx="8595360" cy="475488"/>
          </a:xfrm>
          <a:prstGeom prst="rect">
            <a:avLst/>
          </a:prstGeom>
          <a:solidFill>
            <a:srgbClr val="1C2E4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8151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75895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mide un objeto del mundo real si solo tengo su imagen en píxeles y una cámara calibrada?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17320"/>
            <a:ext cx="7132320" cy="2926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98080" y="1463040"/>
            <a:ext cx="1371600" cy="640080"/>
          </a:xfrm>
          <a:prstGeom prst="rect">
            <a:avLst/>
          </a:prstGeom>
          <a:solidFill>
            <a:srgbClr val="152135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754380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Hpx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43800" y="1783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Tamano del objeto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imagen (px)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498080" y="2176272"/>
            <a:ext cx="1371600" cy="640080"/>
          </a:xfrm>
          <a:prstGeom prst="rect">
            <a:avLst/>
          </a:prstGeom>
          <a:solidFill>
            <a:srgbClr val="15213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7543800" y="22219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43800" y="2496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length vertical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matriz K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498080" y="2889504"/>
            <a:ext cx="1371600" cy="640080"/>
          </a:xfrm>
          <a:prstGeom prst="rect">
            <a:avLst/>
          </a:prstGeom>
          <a:solidFill>
            <a:srgbClr val="1521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7543800" y="29352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43800" y="3209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camara-obj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(profundidad)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498080" y="3602736"/>
            <a:ext cx="1371600" cy="640080"/>
          </a:xfrm>
          <a:prstGeom prst="rect">
            <a:avLst/>
          </a:prstGeom>
          <a:solidFill>
            <a:srgbClr val="1521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7543800" y="36484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543800" y="39227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Tamano REAL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 (cm/m)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4434840"/>
            <a:ext cx="8595360" cy="542239"/>
          </a:xfrm>
          <a:prstGeom prst="rect">
            <a:avLst/>
          </a:prstGeom>
          <a:solidFill>
            <a:srgbClr val="1C2E4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0"/>
          <p:cNvSpPr/>
          <p:nvPr/>
        </p:nvSpPr>
        <p:spPr>
          <a:xfrm>
            <a:off x="595746" y="45505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es la proyección perspectiva al revés: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840480" y="4434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H_real = (Hpx / fy) × Z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de Objetos 3D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228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6766560" cy="23774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132097"/>
            <a:ext cx="5486400" cy="1828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52160" y="845820"/>
            <a:ext cx="3017520" cy="1914005"/>
          </a:xfrm>
          <a:prstGeom prst="rect">
            <a:avLst/>
          </a:prstGeom>
          <a:solidFill>
            <a:srgbClr val="1521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/>
          <p:nvPr/>
        </p:nvSpPr>
        <p:spPr>
          <a:xfrm>
            <a:off x="6600305" y="950423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600305" y="1407623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Z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conocido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554585" y="2001983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(Wpx/fx)·Z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(Hpx/fy)·Z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852160" y="3045229"/>
            <a:ext cx="3017520" cy="1828800"/>
          </a:xfrm>
          <a:prstGeom prst="rect">
            <a:avLst/>
          </a:prstGeom>
          <a:solidFill>
            <a:srgbClr val="152135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5943600" y="3136669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Estéreo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943600" y="3502429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necesitas Z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43600" y="3840757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(b · f) / 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943600" y="4279669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uL − uR  (disparidad)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43600" y="4572277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d → más cerca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98448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Online — Rehder et al. (IV 2017)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685799"/>
            <a:ext cx="8595360" cy="862279"/>
          </a:xfrm>
          <a:prstGeom prst="rect">
            <a:avLst/>
          </a:prstGeom>
          <a:solidFill>
            <a:srgbClr val="1C2E48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74980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cámaras se descalibran con vibraciones, temperatura y envejecimiento. Recalibrar con tablero es lento e imposible en conducción.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161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usar el entorno como patrón de calibración en tiempo real.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66366"/>
            <a:ext cx="8595360" cy="1874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4320" y="3450893"/>
            <a:ext cx="2011680" cy="1463040"/>
          </a:xfrm>
          <a:prstGeom prst="rect">
            <a:avLst/>
          </a:prstGeom>
          <a:solidFill>
            <a:srgbClr val="152135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274320" y="3514901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74320" y="4036109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seg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74320" y="4383581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468880" y="3450893"/>
            <a:ext cx="2011680" cy="1463040"/>
          </a:xfrm>
          <a:prstGeom prst="rect">
            <a:avLst/>
          </a:prstGeom>
          <a:solidFill>
            <a:srgbClr val="1521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2468880" y="3514901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2468880" y="4036109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patrón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2468880" y="4383581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entorno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ref.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3450893"/>
            <a:ext cx="2011680" cy="1463040"/>
          </a:xfrm>
          <a:prstGeom prst="rect">
            <a:avLst/>
          </a:prstGeom>
          <a:solidFill>
            <a:srgbClr val="1521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4663440" y="3514901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🚗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4663440" y="4036109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4663440" y="4383581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8000" y="3450893"/>
            <a:ext cx="2011680" cy="1463040"/>
          </a:xfrm>
          <a:prstGeom prst="rect">
            <a:avLst/>
          </a:prstGeom>
          <a:solidFill>
            <a:srgbClr val="15213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6858000" y="3514901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6858000" y="4036109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offline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858000" y="4383581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densidad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disparidad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4950509"/>
            <a:ext cx="8595360" cy="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/>
          </a:lstStyle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9461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3104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C8FF"/>
                </a:solidFill>
                <a:latin typeface="Calibri" pitchFamily="34" charset="0"/>
                <a:cs typeface="Calibri" pitchFamily="34" charset="-120"/>
              </a:rPr>
              <a:t>Conclusión</a:t>
            </a:r>
            <a:r>
              <a:rPr lang="en-US" sz="2400" b="1" dirty="0">
                <a:solidFill>
                  <a:srgbClr val="00C8FF"/>
                </a:solidFill>
                <a:latin typeface="Calibri" pitchFamily="34" charset="0"/>
                <a:cs typeface="Calibri" pitchFamily="34" charset="-120"/>
              </a:rPr>
              <a:t>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9380"/>
            <a:ext cx="8412480" cy="228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973972"/>
            <a:ext cx="4160520" cy="969264"/>
          </a:xfrm>
          <a:prstGeom prst="rect">
            <a:avLst/>
          </a:prstGeom>
          <a:solidFill>
            <a:srgbClr val="152135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74320" y="973972"/>
            <a:ext cx="416052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84048" y="11111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259377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K (intrínsecos) y distCoeffs.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calibrada, la cámara puede medir.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973972"/>
            <a:ext cx="4160520" cy="969264"/>
          </a:xfrm>
          <a:prstGeom prst="rect">
            <a:avLst/>
          </a:prstGeom>
          <a:solidFill>
            <a:srgbClr val="1521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617720" y="973972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727448" y="11111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Pinhole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27448" y="1259377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matemática de toda la proyección.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s·[u,v,1]ᵀ = K·[R|t]·[X,Y,Z,1]ᵀ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116969"/>
            <a:ext cx="4160520" cy="1035213"/>
          </a:xfrm>
          <a:prstGeom prst="rect">
            <a:avLst/>
          </a:prstGeom>
          <a:solidFill>
            <a:srgbClr val="152135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74320" y="2116969"/>
            <a:ext cx="416052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84048" y="2254129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Distorsión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" y="240237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lentes deforman la imagen.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k1,k2 radial · p1,p2 tangencial.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2116969"/>
            <a:ext cx="4160520" cy="1045048"/>
          </a:xfrm>
          <a:prstGeom prst="rect">
            <a:avLst/>
          </a:prstGeom>
          <a:solidFill>
            <a:srgbClr val="1521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617720" y="2116969"/>
            <a:ext cx="41605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727448" y="2254129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27448" y="240237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ajedrez: esquinas internas.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 de círculos: centros. Ambos en Z=0.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322316"/>
            <a:ext cx="4160520" cy="971205"/>
          </a:xfrm>
          <a:prstGeom prst="rect">
            <a:avLst/>
          </a:prstGeom>
          <a:solidFill>
            <a:srgbClr val="15213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74320" y="3322316"/>
            <a:ext cx="41605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84048" y="34594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reproyección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4048" y="3607721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calidad. &lt; 1 px = buena.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Levenberg-Marquardt.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3322316"/>
            <a:ext cx="4160520" cy="971205"/>
          </a:xfrm>
          <a:prstGeom prst="rect">
            <a:avLst/>
          </a:prstGeom>
          <a:solidFill>
            <a:srgbClr val="1521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17720" y="3322316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727448" y="34594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3D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27448" y="3607721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Mono: W=(Wpx/fx)·Z (necesita Z).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Estéreo: Z=(b·f)/disparidad.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y Recursos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228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160520" cy="1325880"/>
          </a:xfrm>
          <a:prstGeom prst="rect">
            <a:avLst/>
          </a:prstGeom>
          <a:solidFill>
            <a:srgbClr val="1521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1371600" cy="132588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47472" y="8229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Principal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822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Rehder, E., Kinzig, C., Bender, P., Lauer, 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11612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Stereo Camera Calibration From Scratch - IEEE IV 2017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16642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https://github.com/KIT-MRT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749808"/>
            <a:ext cx="4160520" cy="1325880"/>
          </a:xfrm>
          <a:prstGeom prst="rect">
            <a:avLst/>
          </a:prstGeom>
          <a:solidFill>
            <a:srgbClr val="152135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709160" y="749808"/>
            <a:ext cx="1371600" cy="1325880"/>
          </a:xfrm>
          <a:prstGeom prst="rect">
            <a:avLst/>
          </a:prstGeom>
          <a:solidFill>
            <a:srgbClr val="00C8FF">
              <a:alpha val="15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782312" y="8229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Zhang (base de OpenCV)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822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Z.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1612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Flexible New Technique for Camera Calibration - IEEE TPAMI, 2000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6642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https://www.microsoft.com/en-us/research/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212848"/>
            <a:ext cx="4160520" cy="1325880"/>
          </a:xfrm>
          <a:prstGeom prst="rect">
            <a:avLst/>
          </a:prstGeom>
          <a:solidFill>
            <a:srgbClr val="1521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74320" y="2212848"/>
            <a:ext cx="1371600" cy="132588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47472" y="228600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OpenCV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 Tutorial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26243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oficial de calibración con tablero de ajedrez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31272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https://docs.opencv.org/4.x/d4/d94/tutorial_camera_calibration.html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212848"/>
            <a:ext cx="4160520" cy="1325880"/>
          </a:xfrm>
          <a:prstGeom prst="rect">
            <a:avLst/>
          </a:prstGeom>
          <a:solidFill>
            <a:srgbClr val="1521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709160" y="2212848"/>
            <a:ext cx="1371600" cy="132588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782312" y="228600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OpenCV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 (Square Chess Pattern)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26243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con el patron de cuadros cuadrados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31272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https://docs.opencv.org/4.x/dc/d43/tutorial_camera_calibration_square_chess.html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675888"/>
            <a:ext cx="4160520" cy="1325880"/>
          </a:xfrm>
          <a:prstGeom prst="rect">
            <a:avLst/>
          </a:prstGeom>
          <a:solidFill>
            <a:srgbClr val="15213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274320" y="3675888"/>
            <a:ext cx="1371600" cy="132588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47472" y="3749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clase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37360" y="3749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Klette, R. — Concise Computer Vision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737360" y="40873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6.2, 6.3, 7.3 — Calibration, Rectification, Stereo Vision (Springer, 2014)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45902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CoordinatesCalibration.pdf (slides de clase)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675888"/>
            <a:ext cx="4160520" cy="1325880"/>
          </a:xfrm>
          <a:prstGeom prst="rect">
            <a:avLst/>
          </a:prstGeom>
          <a:solidFill>
            <a:srgbClr val="152135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4709160" y="3675888"/>
            <a:ext cx="1371600" cy="1325880"/>
          </a:xfrm>
          <a:prstGeom prst="rect">
            <a:avLst/>
          </a:prstGeom>
          <a:solidFill>
            <a:srgbClr val="F43F5E">
              <a:alpha val="15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4782312" y="3749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práctica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3749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LearnOpenCV — Camera Calibration using OpenCV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72200" y="40873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completa en C++ con ejemplos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72200" y="45902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https://learnopencv.com/camera-calibration-using-opencv/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1700</Words>
  <Application>Microsoft Office PowerPoint</Application>
  <PresentationFormat>Presentación en pantalla (16:9)</PresentationFormat>
  <Paragraphs>311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Segoe UI Emoji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Catalina Gutierrez A</cp:lastModifiedBy>
  <cp:revision>3</cp:revision>
  <dcterms:created xsi:type="dcterms:W3CDTF">2026-04-28T13:12:21Z</dcterms:created>
  <dcterms:modified xsi:type="dcterms:W3CDTF">2026-04-28T13:46:38Z</dcterms:modified>
</cp:coreProperties>
</file>